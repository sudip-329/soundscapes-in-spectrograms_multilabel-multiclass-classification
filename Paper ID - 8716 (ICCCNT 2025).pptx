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2" r:id="rId8"/>
    <p:sldId id="261" r:id="rId9"/>
    <p:sldId id="262" r:id="rId10"/>
    <p:sldId id="275" r:id="rId11"/>
    <p:sldId id="263" r:id="rId12"/>
    <p:sldId id="265" r:id="rId13"/>
    <p:sldId id="267" r:id="rId14"/>
    <p:sldId id="266" r:id="rId15"/>
    <p:sldId id="268" r:id="rId16"/>
    <p:sldId id="270" r:id="rId17"/>
    <p:sldId id="271" r:id="rId18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76"/>
        <p:guide pos="289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type="body" idx="1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Google Shape;62;p1:notes"/>
          <p:cNvSpPr/>
          <p:nvPr/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63;p1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2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type="body" idx="1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3:notes"/>
          <p:cNvSpPr/>
          <p:nvPr/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3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97" name="Google Shape;97;p4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1d7b43955_4_0:notes"/>
          <p:cNvSpPr txBox="1"/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g331d7b43955_4_0:notes"/>
          <p:cNvSpPr/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95900c0c0_0_0:notes"/>
          <p:cNvSpPr txBox="1"/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g3395900c0c0_0_0:notes"/>
          <p:cNvSpPr/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6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7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1f1312a64_0_15:notes"/>
          <p:cNvSpPr txBox="1"/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g331f1312a64_0_15:notes"/>
          <p:cNvSpPr/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8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95900c0c0_0_9:notes"/>
          <p:cNvSpPr txBox="1"/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g3395900c0c0_0_9:notes"/>
          <p:cNvSpPr/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10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11:notes"/>
          <p:cNvSpPr/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04920" y="1994800"/>
            <a:ext cx="850284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US" sz="2400" b="1" i="0" u="none" strike="noStrike" cap="none" baseline="3000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altLang="en-US" sz="2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International IEEE Conference on Computing, Communication and Networking Technologies</a:t>
            </a:r>
            <a:r>
              <a:rPr lang="en-IN" sz="2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en-US" altLang="en-US" sz="2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ICCCNT</a:t>
            </a:r>
            <a:r>
              <a:rPr lang="en-IN" sz="2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en-US" altLang="en-IN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6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July </a:t>
            </a:r>
            <a:r>
              <a:rPr lang="en-US" altLang="en-US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 </a:t>
            </a:r>
            <a:r>
              <a:rPr lang="en-IN" sz="16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</a:t>
            </a:r>
            <a:r>
              <a:rPr lang="en-US" altLang="en-US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r>
            <a:r>
              <a:rPr lang="en-IN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2025</a:t>
            </a:r>
            <a:r>
              <a:rPr lang="en-IN" sz="1600" b="0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)</a:t>
            </a:r>
            <a:endParaRPr lang="en-IN" sz="1600" b="0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IN"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85280" y="4014788"/>
            <a:ext cx="8322480" cy="128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Soundscapes in Spectrograms: Pioneering Multilabel Classification for South Asian Sounds</a:t>
            </a:r>
            <a:endParaRPr lang="en-US" altLang="en-US" sz="2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075040" y="3654688"/>
            <a:ext cx="4930200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Paper ID: </a:t>
            </a:r>
            <a:r>
              <a:rPr lang="en-US" altLang="en-IN" sz="1800" b="1" i="0" u="none" strike="noStrike" cap="none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8716</a:t>
            </a:r>
            <a:r>
              <a:rPr lang="en-IN" sz="18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</a:t>
            </a:r>
            <a:r>
              <a:rPr lang="en-US" altLang="en-US" sz="18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Date</a:t>
            </a:r>
            <a:r>
              <a:rPr lang="en-IN" sz="18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altLang="en-US" sz="18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July 11</a:t>
            </a:r>
            <a:r>
              <a:rPr lang="en-US" altLang="en-IN" sz="18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0" i="0" u="none" strike="noStrike" cap="none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67690" y="216835"/>
            <a:ext cx="8808600" cy="6519600"/>
          </a:xfrm>
          <a:prstGeom prst="rect">
            <a:avLst/>
          </a:prstGeom>
          <a:noFill/>
          <a:ln w="57225" cap="flat" cmpd="dbl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 lang="en-US" altLang="en-US"/>
          </a:p>
        </p:txBody>
      </p:sp>
      <p:sp>
        <p:nvSpPr>
          <p:cNvPr id="69" name="Google Shape;69;p14"/>
          <p:cNvSpPr/>
          <p:nvPr/>
        </p:nvSpPr>
        <p:spPr>
          <a:xfrm>
            <a:off x="551513" y="5477260"/>
            <a:ext cx="8190000" cy="104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altLang="en-IN" sz="1800">
                <a:solidFill>
                  <a:srgbClr val="000066"/>
                </a:solidFill>
              </a:rPr>
              <a:t>Sudip Chakrabarty</a:t>
            </a:r>
            <a:r>
              <a:rPr lang="en-IN" sz="1800">
                <a:solidFill>
                  <a:srgbClr val="000066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altLang="en-IN" sz="1800">
                <a:solidFill>
                  <a:srgbClr val="000066"/>
                </a:solidFill>
              </a:rPr>
              <a:t>  </a:t>
            </a:r>
            <a:r>
              <a:rPr lang="en-IN" sz="1800">
                <a:solidFill>
                  <a:srgbClr val="000066"/>
                </a:solidFill>
              </a:rPr>
              <a:t>Kalinga Institute of Industrial Technology</a:t>
            </a:r>
            <a:endParaRPr sz="1800">
              <a:solidFill>
                <a:srgbClr val="0000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IN" sz="1800">
                <a:solidFill>
                  <a:srgbClr val="000066"/>
                </a:solidFill>
              </a:rPr>
              <a:t>Bhubaneswar, India</a:t>
            </a:r>
            <a:endParaRPr sz="1800">
              <a:solidFill>
                <a:srgbClr val="000066"/>
              </a:solidFill>
            </a:endParaRPr>
          </a:p>
        </p:txBody>
      </p:sp>
      <p:pic>
        <p:nvPicPr>
          <p:cNvPr id="2" name="Picture 1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" y="332740"/>
            <a:ext cx="737870" cy="734060"/>
          </a:xfrm>
          <a:prstGeom prst="rect">
            <a:avLst/>
          </a:prstGeom>
        </p:spPr>
      </p:pic>
      <p:pic>
        <p:nvPicPr>
          <p:cNvPr id="3" name="Picture 2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675" y="332740"/>
            <a:ext cx="818515" cy="710565"/>
          </a:xfrm>
          <a:prstGeom prst="rect">
            <a:avLst/>
          </a:prstGeom>
        </p:spPr>
      </p:pic>
      <p:pic>
        <p:nvPicPr>
          <p:cNvPr id="4" name="Picture 3" descr="IEEE-Log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20" y="444500"/>
            <a:ext cx="1532890" cy="480060"/>
          </a:xfrm>
          <a:prstGeom prst="rect">
            <a:avLst/>
          </a:prstGeom>
        </p:spPr>
      </p:pic>
      <p:pic>
        <p:nvPicPr>
          <p:cNvPr id="7" name="Picture 6" descr="IEEE Professional Communication Socie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435" y="1272540"/>
            <a:ext cx="2183130" cy="539115"/>
          </a:xfrm>
          <a:prstGeom prst="rect">
            <a:avLst/>
          </a:prstGeom>
        </p:spPr>
      </p:pic>
      <p:pic>
        <p:nvPicPr>
          <p:cNvPr id="8" name="Picture 7" descr="unnam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0" y="1229360"/>
            <a:ext cx="1642110" cy="520065"/>
          </a:xfrm>
          <a:prstGeom prst="rect">
            <a:avLst/>
          </a:prstGeom>
        </p:spPr>
      </p:pic>
      <p:pic>
        <p:nvPicPr>
          <p:cNvPr id="10" name="Picture 9" descr="aa"/>
          <p:cNvPicPr>
            <a:picLocks noChangeAspect="1"/>
          </p:cNvPicPr>
          <p:nvPr/>
        </p:nvPicPr>
        <p:blipFill>
          <a:blip r:embed="rId6"/>
          <a:srcRect l="4150" t="4724" r="3537" b="4653"/>
          <a:stretch>
            <a:fillRect/>
          </a:stretch>
        </p:blipFill>
        <p:spPr>
          <a:xfrm>
            <a:off x="7179945" y="1162685"/>
            <a:ext cx="1561465" cy="6489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98320" y="3197225"/>
            <a:ext cx="5381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Organized </a:t>
            </a:r>
            <a:r>
              <a:rPr lang="en-US" altLang="en-US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 IIT - Indore, Madhya Pradesh, India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520580" y="228600"/>
            <a:ext cx="77706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Paper Outline  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8686800" y="95760"/>
            <a:ext cx="40788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2</a:t>
            </a:r>
            <a:endParaRPr lang="en-IN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07695" y="1323340"/>
            <a:ext cx="7782560" cy="4466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Introduction</a:t>
            </a:r>
            <a:endParaRPr lang="en-US" altLang="en-US" sz="10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Literature Survey &amp; Related Works</a:t>
            </a:r>
            <a:endParaRPr lang="en-US" altLang="en-US" sz="21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Research Gap and Contribution</a:t>
            </a:r>
            <a:endParaRPr lang="en-US" altLang="en-US" sz="21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Dataset Overview and Preparation</a:t>
            </a:r>
            <a:endParaRPr lang="en-US" altLang="en-US" sz="21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Experimental Setup</a:t>
            </a:r>
            <a:endParaRPr lang="en-US" altLang="en-US" sz="10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Proposed Methodology</a:t>
            </a:r>
            <a:endParaRPr lang="en-US" altLang="en-US" sz="21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Result Analysis</a:t>
            </a:r>
            <a:endParaRPr lang="en-US" altLang="en-US" sz="2100" b="1"/>
          </a:p>
          <a:p>
            <a:pPr marL="0" lvl="1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ym typeface="+mn-ea"/>
              </a:rPr>
              <a:t>Visualization of Detection Results</a:t>
            </a:r>
            <a:endParaRPr lang="en-US" altLang="en-US" sz="10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Conclusion</a:t>
            </a:r>
            <a:endParaRPr lang="en-US" altLang="en-US" sz="2100" b="1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 sz="2100" b="1"/>
              <a:t>References</a:t>
            </a:r>
            <a:endParaRPr lang="en-US" altLang="en-US" sz="21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459105" y="1140460"/>
            <a:ext cx="8227695" cy="495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Urban monitoring and cultural soundscape preservation in South Asia demand accurate environmental sound classification.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South Asian soundscapes are highly diverse, with overlapping natural, human, and cultural sounds, making classification complex.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Traditional methods like MFCC or Blind Source Separation (BSS) struggle with overlapping sounds and require prior source knowledge.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 spectrogram-based CNN model that captures fine-grained time-frequency patterns without explicit source separation.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Achieves better multilabel, multiclass accuracy, helping develop robust real-world applications for urban surveillance, anomaly detection, and acoustic heritage preservation.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52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altLang="en-US" sz="2100" b="1">
              <a:solidFill>
                <a:schemeClr val="dk1"/>
              </a:solidFill>
            </a:endParaRPr>
          </a:p>
          <a:p>
            <a:pPr marL="952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altLang="en-IN" sz="2100" b="1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686800" y="95760"/>
            <a:ext cx="40788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3</a:t>
            </a:r>
            <a:endParaRPr lang="en-IN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863215" y="228600"/>
            <a:ext cx="3872865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533520" y="2133720"/>
            <a:ext cx="7922880" cy="266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</a:t>
            </a:r>
            <a:endParaRPr sz="3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81000" y="1107440"/>
            <a:ext cx="8250555" cy="521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Tasnim Akter et al. (2024)[1]: Proposed a multi-label sound classification approach using CNN, LSTM, and GRU for instrument recognition.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Chatterjee et al. (2024)[2]: MFCC-based CNN for South Asian sound classification, but only for single-label tasks.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Vimal et al. (2021)[3]: Applied MFCC-based audio classification using machine learning models, but struggled to capture fine-grained time-frequency details needed for overlapping sounds.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Sharma et al. (2020)[4]: Applied an attention-based CNN combining MFCC, GFCC, CQT, and Chromagram features for environmental sound classification.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Bandyopadhyay (2024)[5]: Used Spectron (conditional transformer) for speaker extraction, but needs clean samples, limiting real-world use for overlapping sounds.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1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Bubashait &amp; Hewahi (2021)[6]: Compared DNN, CNN &amp; LSTM for urban sound classification, but focused on single-label tasks.</a:t>
            </a:r>
            <a:endParaRPr lang="en-US" altLang="en-US" sz="21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016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686800" y="95760"/>
            <a:ext cx="40788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4</a:t>
            </a:r>
            <a:endParaRPr lang="en-IN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79440" y="1680840"/>
            <a:ext cx="180360" cy="3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242740" y="6271383"/>
            <a:ext cx="6480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356235" y="247650"/>
            <a:ext cx="833564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ym typeface="+mn-ea"/>
              </a:rPr>
              <a:t>Literature Survey &amp; Related Works</a:t>
            </a:r>
            <a:endParaRPr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Google Shape;99;p17"/>
          <p:cNvSpPr/>
          <p:nvPr/>
        </p:nvSpPr>
        <p:spPr>
          <a:xfrm>
            <a:off x="533520" y="2133720"/>
            <a:ext cx="7922880" cy="266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</a:t>
            </a:r>
            <a:endParaRPr sz="3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81000" y="1203960"/>
            <a:ext cx="8305800" cy="521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1016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altLang="en-US" sz="24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Research Gaps Identified:</a:t>
            </a:r>
            <a:endParaRPr lang="en-US" altLang="en-US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016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Limited Cultural Scope as most studies use narrow or non-South Asian datasets.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Mostly single-label focus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BSS/conditional methods need clean samples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MFCCs miss fine time-frequency details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2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016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altLang="en-US" sz="24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Our Key Contributions:</a:t>
            </a:r>
            <a:endParaRPr lang="en-US" altLang="en-US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016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Spectrogram-based CNN, no explicit separation needed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Handles multi-label, overlapping sounds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Tested on SAS-KIIT &amp; UrbanSound8K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en-US" sz="8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-355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en-US" sz="2000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Supports real-world urban &amp; cultural applications</a:t>
            </a:r>
            <a:endParaRPr lang="en-US" altLang="en-US" sz="20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686800" y="95760"/>
            <a:ext cx="40788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79440" y="1680840"/>
            <a:ext cx="180360" cy="3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7"/>
          <p:cNvSpPr/>
          <p:nvPr/>
        </p:nvSpPr>
        <p:spPr>
          <a:xfrm>
            <a:off x="737235" y="330200"/>
            <a:ext cx="755396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2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Gap &amp; Contribution</a:t>
            </a:r>
            <a:endParaRPr sz="4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6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533280" y="228600"/>
            <a:ext cx="77706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 Overview &amp; Preparation</a:t>
            </a:r>
            <a:endParaRPr sz="4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33400" y="1149985"/>
            <a:ext cx="6021705" cy="384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1.  SAS - KIIT: South Asian Sounds - KIIT [2]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35660" y="4054475"/>
            <a:ext cx="7468235" cy="1784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just">
              <a:buFont typeface="Wingdings" panose="05000000000000000000" charset="0"/>
              <a:buChar char="Ø"/>
            </a:pPr>
            <a:r>
              <a:rPr 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Focus: U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rban environmental sound classification.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endParaRPr lang="en-US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Classes: 10 total, including Air Conditioner, Car Horn, Children Playing, Dog Bark, Drilling,   Siren, and Street Music and others.</a:t>
            </a:r>
            <a:endParaRPr lang="en-US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endParaRPr lang="en-US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Format: 8,732 audio files(WAV format) </a:t>
            </a: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at 44.1 kHz</a:t>
            </a:r>
            <a:r>
              <a:rPr 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each up to 4 seconds long.</a:t>
            </a:r>
            <a:endParaRPr lang="en-US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35660" y="1543685"/>
            <a:ext cx="7790180" cy="188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Focus: South Asian environmental sound classification.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2" indent="-285750">
              <a:buFont typeface="Wingdings" panose="05000000000000000000" charset="0"/>
              <a:buChar char="Ø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Classes: 21 total, including Tanpura, Launch Engine, Traditional Song, Flute, Railway Engine, Buddhist Prayer, Children Class Noise, Dhak and others.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2" indent="-285750">
              <a:buFont typeface="Wingdings" panose="05000000000000000000" charset="0"/>
              <a:buChar char="Ø"/>
            </a:pPr>
            <a:endParaRPr lang="en-US" altLang="en-GB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2" indent="-285750">
              <a:buFont typeface="Wingdings" panose="05000000000000000000" charset="0"/>
              <a:buChar char="Ø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Format: 9,450 WAV files at 44.1 kHz, recorded via smartphone.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2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/>
          </a:p>
        </p:txBody>
      </p:sp>
      <p:sp>
        <p:nvSpPr>
          <p:cNvPr id="9" name="Text Box 8"/>
          <p:cNvSpPr txBox="1"/>
          <p:nvPr/>
        </p:nvSpPr>
        <p:spPr>
          <a:xfrm>
            <a:off x="533400" y="3618230"/>
            <a:ext cx="3952875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2. UrbanSound8K [7]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7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70880" y="215020"/>
            <a:ext cx="80427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 Overview &amp; Preparation</a:t>
            </a:r>
            <a:endParaRPr sz="4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pic>
        <p:nvPicPr>
          <p:cNvPr id="6" name="Picture 5" descr="mixing_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435" y="1714500"/>
            <a:ext cx="4341495" cy="28524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55820" y="4705350"/>
            <a:ext cx="4182110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00" b="1">
                <a:latin typeface="Times New Roman" panose="02020603050405020304" charset="0"/>
                <a:cs typeface="Times New Roman" panose="02020603050405020304" charset="0"/>
              </a:rPr>
              <a:t>Fig. 1: </a:t>
            </a: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Audio Mixing Process and Label Interactions.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34645" y="1753235"/>
            <a:ext cx="4162425" cy="367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Mixed audio files were created by combining 1–4 individual segments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       per file.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Two setups: Fixed (3 segments) and Variable (1–4 segments) to simulate overlapping sounds.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A total of 8,000 mixed audio samples were generated.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Simulating Overlapping Soundscapes with Mixed Audio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34010" y="1267460"/>
            <a:ext cx="777557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Simulating Overlapping Soundscapes: Mixed Data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" name="Google Shape;124;p19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8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08660" y="228600"/>
            <a:ext cx="7680960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4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Experimental Setup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09295" y="1335405"/>
            <a:ext cx="7771130" cy="41230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System Requirements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Hardware: 16Gb RAM, Intel core i7 processor.</a:t>
            </a:r>
            <a:endParaRPr lang="en-US" altLang="en-GB" sz="2000" b="1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Software: Windows 11, </a:t>
            </a:r>
            <a:r>
              <a:rPr lang="en-US" altLang="en-US" sz="2000" b="1">
                <a:solidFill>
                  <a:srgbClr val="202124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Kaggle Cloud Environment</a:t>
            </a: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 &amp; Google Collab.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Programming Language: Python </a:t>
            </a:r>
            <a:endParaRPr lang="en-US" altLang="en-US" sz="20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2"/>
            <a:endParaRPr lang="en-US" altLang="en-GB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Training Configuration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Epochs: 100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Batch Size: 16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Optimizer: Adam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Spectrogram Size: 128 x 128 pixels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Learning rate: 0.001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Evaluation Matrics: Precision, Recall, F1-Score and Accuracy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791210" y="184150"/>
            <a:ext cx="7681595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Methodology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34975" y="4092575"/>
            <a:ext cx="8088630" cy="2239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US" sz="2000" b="1">
                <a:sym typeface="+mn-ea"/>
              </a:rPr>
              <a:t>Workflow:</a:t>
            </a:r>
            <a:endParaRPr lang="en-US" altLang="en-US" sz="500" b="1"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altLang="en-US" sz="1800" b="1">
                <a:sym typeface="+mn-ea"/>
              </a:rPr>
              <a:t>Mixed audio is converted to Mel-spectrograms for the CNN.</a:t>
            </a:r>
            <a:endParaRPr lang="en-US" altLang="en-US" sz="1800" b="1"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endParaRPr lang="en-US" altLang="en-US" sz="500" b="1"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altLang="en-US" sz="1800" b="1">
                <a:sym typeface="+mn-ea"/>
              </a:rPr>
              <a:t>Convolution, ReLU, and max pooling extract features; dense layers predict multiple labels.</a:t>
            </a:r>
            <a:endParaRPr lang="en-US" altLang="en-US" sz="1800" b="1"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endParaRPr lang="en-US" altLang="en-IN" sz="500" b="1">
              <a:solidFill>
                <a:schemeClr val="dk1"/>
              </a:solidFill>
              <a:sym typeface="+mn-e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altLang="en-US" sz="1800" b="1">
                <a:sym typeface="+mn-ea"/>
              </a:rPr>
              <a:t>Uses BCEWithLogitsLoss for efficient multi-label learning.</a:t>
            </a:r>
            <a:endParaRPr lang="en-US" altLang="en-US" sz="1800" b="1">
              <a:sym typeface="+mn-e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311150" y="3616325"/>
            <a:ext cx="8275320" cy="31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Fig. 2: </a:t>
            </a:r>
            <a:r>
              <a:rPr lang="en-US" altLang="en-US" sz="1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Multilabel Audio Classification Framework</a:t>
            </a:r>
            <a:endParaRPr lang="en-US" altLang="en-US"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9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pic>
        <p:nvPicPr>
          <p:cNvPr id="4" name="Picture 3" descr="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1141095"/>
            <a:ext cx="8108315" cy="2442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709295" y="204470"/>
            <a:ext cx="7681595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3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Analysis</a:t>
            </a:r>
            <a:endParaRPr sz="43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73380" y="4396105"/>
            <a:ext cx="8483600" cy="196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>
                <a:solidFill>
                  <a:schemeClr val="dk1"/>
                </a:solidFill>
              </a:rPr>
              <a:t>Achieved 95–96% on SAS-KIIT and 85–86% on UrbanSound8K for both fixed and variable mixed audio setups.</a:t>
            </a:r>
            <a:endParaRPr lang="en-US" altLang="en-US" sz="1600" b="1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>
                <a:solidFill>
                  <a:schemeClr val="dk1"/>
                </a:solidFill>
              </a:rPr>
              <a:t>Consistent performance across different mixing conditions (1–4 sources) shows the model handles real-world overlapping sounds well.</a:t>
            </a:r>
            <a:endParaRPr lang="en-US" altLang="en-US" sz="1600" b="1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>
                <a:solidFill>
                  <a:schemeClr val="dk1"/>
                </a:solidFill>
              </a:rPr>
              <a:t>Shows good generalization for both regional (SAS-KIIT) and general urban (UrbanSound8K) sounds.</a:t>
            </a:r>
            <a:endParaRPr sz="1600"/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133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10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graphicFrame>
        <p:nvGraphicFramePr>
          <p:cNvPr id="14" name="Table 13"/>
          <p:cNvGraphicFramePr/>
          <p:nvPr>
            <p:custDataLst>
              <p:tags r:id="rId3"/>
            </p:custDataLst>
          </p:nvPr>
        </p:nvGraphicFramePr>
        <p:xfrm>
          <a:off x="372745" y="2190115"/>
          <a:ext cx="4215130" cy="2057400"/>
        </p:xfrm>
        <a:graphic>
          <a:graphicData uri="http://schemas.openxmlformats.org/drawingml/2006/table">
            <a:tbl>
              <a:tblPr/>
              <a:tblGrid>
                <a:gridCol w="796925"/>
                <a:gridCol w="1256665"/>
                <a:gridCol w="503555"/>
                <a:gridCol w="488950"/>
                <a:gridCol w="485775"/>
                <a:gridCol w="683260"/>
              </a:tblGrid>
              <a:tr h="523240"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Dataset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Features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R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F1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Acc.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364490">
                <a:tc rowSpan="2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SAS-KIIT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MFCC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93.91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35814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Spectrogram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0.78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95.42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402590">
                <a:tc rowSpan="2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Urban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Sound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8K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MFCC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0.62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84.16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39751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Spectrogram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0.72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86.36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4"/>
            </p:custDataLst>
          </p:nvPr>
        </p:nvGraphicFramePr>
        <p:xfrm>
          <a:off x="4641850" y="2176780"/>
          <a:ext cx="4215130" cy="2057400"/>
        </p:xfrm>
        <a:graphic>
          <a:graphicData uri="http://schemas.openxmlformats.org/drawingml/2006/table">
            <a:tbl>
              <a:tblPr/>
              <a:tblGrid>
                <a:gridCol w="841375"/>
                <a:gridCol w="1174115"/>
                <a:gridCol w="509905"/>
                <a:gridCol w="469900"/>
                <a:gridCol w="536575"/>
                <a:gridCol w="683260"/>
              </a:tblGrid>
              <a:tr h="523240"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Dataset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Features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R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F1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Acc.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364490">
                <a:tc rowSpan="2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SAS-KIIT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MFCC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94.63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35814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Spectrogram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96.37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402590">
                <a:tc rowSpan="2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Urban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Sound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8K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MFCC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0.68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0.65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0.62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83.94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39751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Spectrogram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85.26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437515" y="1282700"/>
            <a:ext cx="4150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Table 1 : Performance Comparison of MFCC and Spectrogram Features on  Datasets with Fixed no. Mixed Audio Samples.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41850" y="1282700"/>
            <a:ext cx="4342130" cy="1029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Table 2 :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Performance Comparison of MFCC and Spectrogram Features on  Datasets with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Variable no. Mixed Audio Samples.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709295" y="204470"/>
            <a:ext cx="7681595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3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Analysis </a:t>
            </a:r>
            <a:r>
              <a:rPr lang="en-IN" sz="43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Continued</a:t>
            </a:r>
            <a:endParaRPr sz="43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412115" y="1131570"/>
            <a:ext cx="8319770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/>
              <a:t>Table 3: Performance Comparison of the Proposed Model, FACE and</a:t>
            </a:r>
            <a:endParaRPr lang="en-US" altLang="en-US"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/>
              <a:t>PANNs on Datasets Using Spectrogram Features with Variable</a:t>
            </a:r>
            <a:endParaRPr lang="en-US" altLang="en-US"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/>
              <a:t>Number of Mixed Audio Samples.</a:t>
            </a:r>
            <a:endParaRPr lang="en-US" altLang="en-US" sz="1600" b="1"/>
          </a:p>
        </p:txBody>
      </p:sp>
      <p:sp>
        <p:nvSpPr>
          <p:cNvPr id="2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5" name="Picture 4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6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11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2" name="Google Shape;187;p23"/>
          <p:cNvSpPr txBox="1"/>
          <p:nvPr/>
        </p:nvSpPr>
        <p:spPr>
          <a:xfrm>
            <a:off x="412115" y="4656455"/>
            <a:ext cx="8274050" cy="169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>
                <a:solidFill>
                  <a:schemeClr val="dk1"/>
                </a:solidFill>
              </a:rPr>
              <a:t>Achieved higher accuracy than FACE, despite being simpler and faster.</a:t>
            </a:r>
            <a:endParaRPr lang="en-US" altLang="en-US" sz="1600" b="1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>
                <a:solidFill>
                  <a:schemeClr val="dk1"/>
                </a:solidFill>
              </a:rPr>
              <a:t>Delivers results close to PANNs, while being less computationally demanding.</a:t>
            </a:r>
            <a:endParaRPr lang="en-US" altLang="en-US" sz="1600" b="1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altLang="en-US" sz="1600" b="1"/>
              <a:t>Ideal for resource-limited environments, with a good balance of accuracy and efficiency.</a:t>
            </a:r>
            <a:endParaRPr lang="en-US" altLang="en-US" sz="1600" b="1"/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endParaRPr lang="en-US" altLang="en-US" sz="1600"/>
          </a:p>
          <a:p>
            <a:pPr marL="457200" lvl="0" indent="-387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endParaRPr lang="en-US" altLang="en-US" sz="1600"/>
          </a:p>
        </p:txBody>
      </p:sp>
      <p:graphicFrame>
        <p:nvGraphicFramePr>
          <p:cNvPr id="14" name="Table 13"/>
          <p:cNvGraphicFramePr/>
          <p:nvPr>
            <p:custDataLst>
              <p:tags r:id="rId3"/>
            </p:custDataLst>
          </p:nvPr>
        </p:nvGraphicFramePr>
        <p:xfrm>
          <a:off x="1198245" y="2094230"/>
          <a:ext cx="6780530" cy="2383790"/>
        </p:xfrm>
        <a:graphic>
          <a:graphicData uri="http://schemas.openxmlformats.org/drawingml/2006/table">
            <a:tbl>
              <a:tblPr/>
              <a:tblGrid>
                <a:gridCol w="1450975"/>
                <a:gridCol w="1597660"/>
                <a:gridCol w="932180"/>
                <a:gridCol w="898525"/>
                <a:gridCol w="849630"/>
                <a:gridCol w="1051560"/>
              </a:tblGrid>
              <a:tr h="464820"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Dataset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Features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Precision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Recall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F1-Score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5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Accuracy</a:t>
                      </a:r>
                      <a:endParaRPr lang="en-US" altLang="zh-CN" sz="15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339090">
                <a:tc rowSpan="3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SAS-KIIT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FACE [8]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0.91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0.80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95.22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32639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PANNs [9]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0.85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0.78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92.51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30988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Proposed Model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0.84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96.37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307340">
                <a:tc rowSpan="3"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UrbanSound8K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FACE [8]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0.71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0.57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0.59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84.54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33274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PANNs [9]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83.26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303530">
                <a:tc vMerge="1"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Proposed Model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0.69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0.63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0.61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500" b="1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85.26</a:t>
                      </a:r>
                      <a:endParaRPr lang="en-US" altLang="zh-CN" sz="1500" b="1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7351" marR="7351" marT="7351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380875" y="228600"/>
            <a:ext cx="81969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altLang="en-US" sz="4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Detection Visualization</a:t>
            </a:r>
            <a:endParaRPr sz="4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381000" y="4767580"/>
            <a:ext cx="8305800" cy="6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Fig. 3: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 Log-Scale Representation of Predicted Audio Classes,</a:t>
            </a:r>
            <a:endParaRPr lang="en-US" altLang="en-US" sz="20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Orange bars indicate classes detected in the sample audio.</a:t>
            </a:r>
            <a:endParaRPr lang="en-US" altLang="en-US" sz="20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133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12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pic>
        <p:nvPicPr>
          <p:cNvPr id="4" name="Picture 3" descr="det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1205865"/>
            <a:ext cx="8643620" cy="344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>
            <a:off x="708540" y="146050"/>
            <a:ext cx="77706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361315" y="1059180"/>
            <a:ext cx="8420735" cy="543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619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Wingdings" panose="05000000000000000000" charset="0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Key Takeaways:</a:t>
            </a:r>
            <a:endParaRPr lang="en-US" altLang="en-US" sz="2000" b="1">
              <a:solidFill>
                <a:srgbClr val="000000"/>
              </a:solidFill>
            </a:endParaRPr>
          </a:p>
          <a:p>
            <a:pPr marL="19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Wingdings" panose="05000000000000000000" charset="0"/>
              <a:buNone/>
            </a:pPr>
            <a:endParaRPr lang="en-US" altLang="en-US" sz="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Achieved up to 96% on SAS-KIIT and 85% on UrbanSound8K with mixed overlapping sounds.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endParaRPr lang="en-US" altLang="en-US" sz="5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Handles multi-label classification with spectrogram input, effective for diverse, real-world urban soundscapes.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endParaRPr lang="en-US" altLang="en-US" sz="5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Simple CNN design makes it suitable for urban monitoring, cultural preservation, and other real-world applications.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2159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endParaRPr lang="en-US" altLang="en-US" sz="2000" b="1">
              <a:solidFill>
                <a:srgbClr val="000000"/>
              </a:solidFill>
            </a:endParaRPr>
          </a:p>
          <a:p>
            <a:pPr marL="3619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Wingdings" panose="05000000000000000000" charset="0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Future Directions:</a:t>
            </a:r>
            <a:endParaRPr lang="en-US" altLang="en-US" sz="2000" b="1">
              <a:solidFill>
                <a:srgbClr val="000000"/>
              </a:solidFill>
            </a:endParaRPr>
          </a:p>
          <a:p>
            <a:pPr marL="3619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Wingdings" panose="05000000000000000000" charset="0"/>
              <a:buChar char="Ø"/>
            </a:pPr>
            <a:endParaRPr lang="en-US" altLang="en-US" sz="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Add Attention or Sequence Models: Integrate attention or temporal modules to capture context better.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endParaRPr lang="en-US" altLang="en-US" sz="5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Deploy on Edge Devices: Optimize for resource-limited devices to enable real-time field analysis.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endParaRPr lang="en-US" altLang="en-US" sz="500" b="1">
              <a:solidFill>
                <a:srgbClr val="000000"/>
              </a:solidFill>
            </a:endParaRPr>
          </a:p>
          <a:p>
            <a:pPr marL="67310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US" altLang="en-US" sz="1800" b="1">
                <a:solidFill>
                  <a:srgbClr val="000000"/>
                </a:solidFill>
              </a:rPr>
              <a:t>Multi-Modal Expansion: Combine with other data types (e.g., video </a:t>
            </a:r>
            <a:endParaRPr lang="en-US" altLang="en-US" sz="1800" b="1">
              <a:solidFill>
                <a:srgbClr val="000000"/>
              </a:solidFill>
            </a:endParaRPr>
          </a:p>
          <a:p>
            <a:pPr marL="4762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   or sensor data) for richer</a:t>
            </a:r>
            <a:endParaRPr lang="en-US" altLang="en-US" sz="1800" b="1">
              <a:solidFill>
                <a:srgbClr val="0000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133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13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/>
          <p:nvPr/>
        </p:nvSpPr>
        <p:spPr>
          <a:xfrm>
            <a:off x="457200" y="922655"/>
            <a:ext cx="8181340" cy="527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[1] T. A. Onisha, J. Kim, and J. Seol, “Multi label sound classification using deep learning models,”   in 2024 IEEE/ACIS 22nd International Conference on Software Engineering Research, Management and Applications (SERA), 2024, pp. 129–134.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[2] R. Chatterjee, P. Bishwas, S. Chakrabarty, and T. Bandyopadhyay, “South asian sounds:                          Audio classification,” in 2024 4th International Conference on Computer, Communication, Control &amp; Information Technology (C3IT), 2024, pp. 1–6.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[3] B. Vimal, M. Surya, Darshan, V. Sridhar, and A. Ashok, “Mfcc based audio classification using machine learning,” in 2021 12th International Conference on Computing Communication and Networking Technologies (ICCCNT), 2021, pp. 1–4.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[4] J. Sharma, O.-C. Granmo, and M. Goodwin, “Environment sound classification using multiple feature channels and attention based deep convolutional neural network,” in Interspeech 2020, 2020, pp. 1186–1190.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[5] T. Bandyopadhyay, “Spectron: Target speaker extraction using conditional transformer with adversarial refinement,” arXiv preprint arXiv:2409.01352, 2024.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[6] M. Bubashait and N. Hewahi, “Urban sound classification using dnn, cnn &amp; lstm a comparative approach,” 09 2021, pp. 46–50.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[7] J. Salamon, C. Jacoby and J. P. Bello, "A Dataset and Taxonomy for Urban Sound Research", 22nd ACM International Conference on Multimedia, Orlando USA, Nov. 2014.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[8] M. M. Morsali, H. Mohammadzade, and S. B. Shouraki, “Face: Fast, accurate and context-aware audio annotation and classification,” arXiv preprint arXiv:2303.03666, 2023.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u="none" strike="noStrike" cap="none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[9] Q. Kong, Y. Cao, T. Iqbal, Y. Wang, W. Wang, and M. D. Plumbley, “Panns: Large-scale pretrained audio neural networks for audio pattern recognition,” IEEE/ACM Transactions on Audio, Speech, and Language Processing, vol. 28, pp. 2880–2894, 2020.</a:t>
            </a:r>
            <a:endParaRPr lang="en-US" altLang="en-US" sz="1500" b="1" u="none" strike="noStrike" cap="none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242740" y="6271383"/>
            <a:ext cx="6480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8"/>
          <p:cNvSpPr/>
          <p:nvPr/>
        </p:nvSpPr>
        <p:spPr>
          <a:xfrm>
            <a:off x="619640" y="76200"/>
            <a:ext cx="77706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4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IITI_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2" name="Picture 1" descr="7thIccct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  <p:sp>
        <p:nvSpPr>
          <p:cNvPr id="133" name="Google Shape;133;p20"/>
          <p:cNvSpPr/>
          <p:nvPr/>
        </p:nvSpPr>
        <p:spPr>
          <a:xfrm>
            <a:off x="8686800" y="95760"/>
            <a:ext cx="4080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14</a:t>
            </a:r>
            <a:endParaRPr lang="en-US" altLang="en-IN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/>
          <p:nvPr/>
        </p:nvSpPr>
        <p:spPr>
          <a:xfrm>
            <a:off x="855980" y="2686685"/>
            <a:ext cx="7412355" cy="109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lang="en-IN" sz="4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6324480"/>
            <a:ext cx="9142200" cy="5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16</a:t>
            </a:r>
            <a:r>
              <a:rPr lang="en-US" altLang="en-IN" sz="1200" b="1" baseline="30000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IN" sz="1200" b="1">
                <a:solidFill>
                  <a:srgbClr val="10243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International IEEE Conference on Computing, Communication and Networking Technologies (ICCCNT)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" name="Picture 6" descr="IITI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6330950"/>
            <a:ext cx="435610" cy="447040"/>
          </a:xfrm>
          <a:prstGeom prst="rect">
            <a:avLst/>
          </a:prstGeom>
        </p:spPr>
      </p:pic>
      <p:pic>
        <p:nvPicPr>
          <p:cNvPr id="8" name="Picture 7" descr="7thIccct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55" y="6346190"/>
            <a:ext cx="504825" cy="4387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58*162"/>
  <p:tag name="TABLE_ENDDRAG_RECT" val="36*137*358*162"/>
</p:tagLst>
</file>

<file path=ppt/tags/tag2.xml><?xml version="1.0" encoding="utf-8"?>
<p:tagLst xmlns:p="http://schemas.openxmlformats.org/presentationml/2006/main">
  <p:tag name="TABLE_ENDDRAG_ORIGIN_RECT" val="358*162"/>
  <p:tag name="TABLE_ENDDRAG_RECT" val="36*137*358*162"/>
</p:tagLst>
</file>

<file path=ppt/tags/tag3.xml><?xml version="1.0" encoding="utf-8"?>
<p:tagLst xmlns:p="http://schemas.openxmlformats.org/presentationml/2006/main">
  <p:tag name="TABLE_ENDDRAG_ORIGIN_RECT" val="331*163"/>
  <p:tag name="TABLE_ENDDRAG_RECT" val="44*141*331*16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9931</Words>
  <Application>WPS Presentation</Application>
  <PresentationFormat/>
  <Paragraphs>479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Calibri</vt:lpstr>
      <vt:lpstr>Wingdings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sudip</cp:lastModifiedBy>
  <cp:revision>35</cp:revision>
  <dcterms:created xsi:type="dcterms:W3CDTF">2025-07-04T06:19:00Z</dcterms:created>
  <dcterms:modified xsi:type="dcterms:W3CDTF">2026-02-20T19:30:47Z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3B0CC993FB5E4D07BEDB3ED0CAABA3E7_12</vt:lpwstr>
  </property>
  <property fmtid="{D5CDD505-2E9C-101B-9397-08002B2CF9AE}" pid="3" name="KSOProductBuildVer">
    <vt:lpwstr>1033-12.2.0.23196</vt:lpwstr>
  </property>
</Properties>
</file>